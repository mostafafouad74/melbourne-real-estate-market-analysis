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 (AUD)</c:v>
                </c:pt>
              </c:strCache>
            </c:strRef>
          </c:tx>
          <c:spPr>
            <a:solidFill>
              <a:srgbClr val="7C5CD9"/>
            </a:solidFill>
            <a:effectLst/>
          </c:spPr>
          <c:invertIfNegative val="0"/>
          <c:dLbls>
            <c:numFmt formatCode="$#,##0.00,,&quot;M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A21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Western Metro</c:v>
                  </c:pt>
                  <c:pt idx="1">
                    <c:v>Northern Metro</c:v>
                  </c:pt>
                  <c:pt idx="2">
                    <c:v>S-Eastern Metro</c:v>
                  </c:pt>
                  <c:pt idx="3">
                    <c:v>Eastern Metro</c:v>
                  </c:pt>
                  <c:pt idx="4">
                    <c:v>Southern Metro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860000</c:v>
                </c:pt>
                <c:pt idx="1">
                  <c:v>880000</c:v>
                </c:pt>
                <c:pt idx="2">
                  <c:v>890000</c:v>
                </c:pt>
                <c:pt idx="3">
                  <c:v>1060000</c:v>
                </c:pt>
                <c:pt idx="4">
                  <c:v>1180000</c:v>
                </c:pt>
              </c:numCache>
            </c:numRef>
          </c:val>
        </c:ser>
        <c:dLbls>
          <c:numFmt formatCode="$#,##0.00,,&quot;M&quot;" sourceLinked="0"/>
          <c:txPr>
            <a:bodyPr/>
            <a:lstStyle/>
            <a:p>
              <a:pPr>
                <a:defRPr b="0" i="0" strike="noStrike" sz="900" u="none">
                  <a:solidFill>
                    <a:srgbClr val="2A21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A21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Model Accuracy Comparison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C9B6F2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Decision Tree</c:v>
                  </c:pt>
                  <c:pt idx="1">
                    <c:v>Linear Regression</c:v>
                  </c:pt>
                  <c:pt idx="2">
                    <c:v>Logistic Regression</c:v>
                  </c:pt>
                  <c:pt idx="3">
                    <c:v>SVM</c:v>
                  </c:pt>
                  <c:pt idx="4">
                    <c:v>Random Forest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0.853</c:v>
                </c:pt>
                <c:pt idx="1">
                  <c:v>0.864</c:v>
                </c:pt>
                <c:pt idx="2">
                  <c:v>0.871</c:v>
                </c:pt>
                <c:pt idx="3">
                  <c:v>0.887</c:v>
                </c:pt>
                <c:pt idx="4">
                  <c:v>0.899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A9A0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1330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1B1330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943600" cy="5943600"/>
          </a:xfrm>
          <a:prstGeom prst="ellipse">
            <a:avLst/>
          </a:prstGeom>
          <a:solidFill>
            <a:srgbClr val="241A3D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82880"/>
            <a:ext cx="2926080" cy="2926080"/>
          </a:xfrm>
          <a:prstGeom prst="ellipse">
            <a:avLst/>
          </a:prstGeom>
          <a:solidFill>
            <a:srgbClr val="7C5CD9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206240"/>
            <a:ext cx="4023360" cy="4023360"/>
          </a:xfrm>
          <a:prstGeom prst="ellipse">
            <a:avLst/>
          </a:prstGeom>
          <a:solidFill>
            <a:srgbClr val="241A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C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DATA ANALYTICS · FINAL PROJECT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Melbourne Real Estate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Analysis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262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B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housing data to a predictive model and an interactive dashboard — a complete, AI-assisted analytics workflow.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623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4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12,627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44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9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ANALYZED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5623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4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6144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9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5623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4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89.9%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61447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9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ACCURACY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554480"/>
          </a:xfrm>
          <a:prstGeom prst="rect">
            <a:avLst/>
          </a:prstGeom>
          <a:solidFill>
            <a:srgbClr val="1B13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C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dataset, five stages, one decision-ready dashboard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follows a complete data-analytics lifecycle on the Melbourne Housing dataset: a structured, real-world table with numerical and categorical variables, missing values, outliers, and a clear target — property price.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2084832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DE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33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08176" y="3017520"/>
            <a:ext cx="548640" cy="548640"/>
          </a:xfrm>
          <a:prstGeom prst="ellipse">
            <a:avLst/>
          </a:prstGeom>
          <a:solidFill>
            <a:srgbClr val="7C5C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08176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947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420624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5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fix data types, engineer features, treat outliers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724912" y="397764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52928" y="2743200"/>
            <a:ext cx="2084832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DE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33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21024" y="3017520"/>
            <a:ext cx="548640" cy="548640"/>
          </a:xfrm>
          <a:prstGeom prst="ellipse">
            <a:avLst/>
          </a:prstGeom>
          <a:solidFill>
            <a:srgbClr val="7C5CD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21024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2990088" y="37947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420624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5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relationships, and trends via charts and a correlation heatmap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397764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65776" y="2743200"/>
            <a:ext cx="2084832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DE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33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33872" y="3017520"/>
            <a:ext cx="548640" cy="548640"/>
          </a:xfrm>
          <a:prstGeom prst="ellipse">
            <a:avLst/>
          </a:prstGeom>
          <a:solidFill>
            <a:srgbClr val="7C5CD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833872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202936" y="37947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230368" y="420624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5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Decision Tree, Random Forest, SVM, Linear Regression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150608" y="397764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278624" y="2743200"/>
            <a:ext cx="2084832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DE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33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0" y="3017520"/>
            <a:ext cx="548640" cy="548640"/>
          </a:xfrm>
          <a:prstGeom prst="ellipse">
            <a:avLst/>
          </a:prstGeom>
          <a:solidFill>
            <a:srgbClr val="7C5CD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4672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415784" y="37947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443216" y="420624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5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AI-generated, natural-language insights and business recommendations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363456" y="397764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491472" y="2743200"/>
            <a:ext cx="2084832" cy="32461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DE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33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259568" y="3017520"/>
            <a:ext cx="548640" cy="548640"/>
          </a:xfrm>
          <a:prstGeom prst="ellipse">
            <a:avLst/>
          </a:prstGeom>
          <a:solidFill>
            <a:srgbClr val="7C5CD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259568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9628632" y="379476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656064" y="420624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5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Power BI dashboard with KPIs, filters, and drill-down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C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DATA PREPARATION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 raw 21-column export into a trustworthy dataset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12080" cy="1481328"/>
          </a:xfrm>
          <a:prstGeom prst="roundRect">
            <a:avLst>
              <a:gd name="adj" fmla="val 3704"/>
            </a:avLst>
          </a:prstGeom>
          <a:solidFill>
            <a:srgbClr val="241A3D"/>
          </a:solidFill>
          <a:ln/>
        </p:spPr>
      </p:sp>
      <p:sp>
        <p:nvSpPr>
          <p:cNvPr id="5" name="Shape 3"/>
          <p:cNvSpPr/>
          <p:nvPr/>
        </p:nvSpPr>
        <p:spPr>
          <a:xfrm>
            <a:off x="859536" y="2093976"/>
            <a:ext cx="457200" cy="457200"/>
          </a:xfrm>
          <a:prstGeom prst="ellipse">
            <a:avLst/>
          </a:prstGeom>
          <a:solidFill>
            <a:srgbClr val="7C5CD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9536" y="2093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2082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63347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C9B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BuildingArea, YearBuilt and CouncilArea had thousands of nulls; imputed numerics with the median (robust to skew), categoricals with “Unknown.”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40080" y="3502152"/>
            <a:ext cx="5212080" cy="1481328"/>
          </a:xfrm>
          <a:prstGeom prst="roundRect">
            <a:avLst>
              <a:gd name="adj" fmla="val 3704"/>
            </a:avLst>
          </a:prstGeom>
          <a:solidFill>
            <a:srgbClr val="241A3D"/>
          </a:solidFill>
          <a:ln/>
        </p:spPr>
      </p:sp>
      <p:sp>
        <p:nvSpPr>
          <p:cNvPr id="10" name="Shape 8"/>
          <p:cNvSpPr/>
          <p:nvPr/>
        </p:nvSpPr>
        <p:spPr>
          <a:xfrm>
            <a:off x="859536" y="3721608"/>
            <a:ext cx="457200" cy="457200"/>
          </a:xfrm>
          <a:prstGeom prst="ellipse">
            <a:avLst/>
          </a:prstGeom>
          <a:solidFill>
            <a:srgbClr val="7C5C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9536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64845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426110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C9B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Date to a true datetime field and derived Sale_Year / Sale_Month for time-based analysis.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40080" y="5129784"/>
            <a:ext cx="5212080" cy="1481328"/>
          </a:xfrm>
          <a:prstGeom prst="roundRect">
            <a:avLst>
              <a:gd name="adj" fmla="val 3704"/>
            </a:avLst>
          </a:prstGeom>
          <a:solidFill>
            <a:srgbClr val="241A3D"/>
          </a:solidFill>
          <a:ln/>
        </p:spPr>
      </p:sp>
      <p:sp>
        <p:nvSpPr>
          <p:cNvPr id="15" name="Shape 13"/>
          <p:cNvSpPr/>
          <p:nvPr/>
        </p:nvSpPr>
        <p:spPr>
          <a:xfrm>
            <a:off x="859536" y="5349240"/>
            <a:ext cx="457200" cy="457200"/>
          </a:xfrm>
          <a:prstGeom prst="ellipse">
            <a:avLst/>
          </a:prstGeom>
          <a:solidFill>
            <a:srgbClr val="7C5C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9536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527608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588873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C9B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Property_Age, Total_Rooms, and time features to enrich the model beyond the raw columns.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263640" y="1874520"/>
            <a:ext cx="5212080" cy="1481328"/>
          </a:xfrm>
          <a:prstGeom prst="roundRect">
            <a:avLst>
              <a:gd name="adj" fmla="val 3704"/>
            </a:avLst>
          </a:prstGeom>
          <a:solidFill>
            <a:srgbClr val="241A3D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3096" y="2093976"/>
            <a:ext cx="457200" cy="457200"/>
          </a:xfrm>
          <a:prstGeom prst="ellipse">
            <a:avLst/>
          </a:prstGeom>
          <a:solidFill>
            <a:srgbClr val="7C5CD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83096" y="2093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202082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Treatment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263347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C9B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the IQR method to Price, Landsize, Rooms and Bathroom — removing statistically extreme, unreliable records (e.g., a single 10-room outlier, an implausible 4-room / 8-bathroom listing).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263640" y="3502152"/>
            <a:ext cx="5212080" cy="1481328"/>
          </a:xfrm>
          <a:prstGeom prst="roundRect">
            <a:avLst>
              <a:gd name="adj" fmla="val 3704"/>
            </a:avLst>
          </a:prstGeom>
          <a:solidFill>
            <a:srgbClr val="241A3D"/>
          </a:solidFill>
          <a:ln/>
        </p:spPr>
      </p:sp>
      <p:sp>
        <p:nvSpPr>
          <p:cNvPr id="25" name="Shape 23"/>
          <p:cNvSpPr/>
          <p:nvPr/>
        </p:nvSpPr>
        <p:spPr>
          <a:xfrm>
            <a:off x="6483096" y="3721608"/>
            <a:ext cx="457200" cy="457200"/>
          </a:xfrm>
          <a:prstGeom prst="ellipse">
            <a:avLst/>
          </a:prstGeom>
          <a:solidFill>
            <a:srgbClr val="7C5CD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83096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3648456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Irrelevant Columns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6519672" y="426110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C9B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Address, SellerG, and Postcode: high-cardinality or redundant fields with no predictive value.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263640" y="5129784"/>
            <a:ext cx="5212080" cy="1481328"/>
          </a:xfrm>
          <a:prstGeom prst="roundRect">
            <a:avLst>
              <a:gd name="adj" fmla="val 3704"/>
            </a:avLst>
          </a:prstGeom>
          <a:solidFill>
            <a:srgbClr val="241A3D"/>
          </a:solidFill>
          <a:ln/>
        </p:spPr>
      </p:sp>
      <p:sp>
        <p:nvSpPr>
          <p:cNvPr id="30" name="Shape 28"/>
          <p:cNvSpPr/>
          <p:nvPr/>
        </p:nvSpPr>
        <p:spPr>
          <a:xfrm>
            <a:off x="6483096" y="5349240"/>
            <a:ext cx="457200" cy="457200"/>
          </a:xfrm>
          <a:prstGeom prst="ellipse">
            <a:avLst/>
          </a:prstGeom>
          <a:solidFill>
            <a:srgbClr val="7C5CD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83096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5276088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6519672" y="588873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C9B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12,627 clean, model-ready records — down from 13,580 — with zero missing values.</a:t>
            </a:r>
            <a:endParaRPr lang="en-US" sz="1080" dirty="0"/>
          </a:p>
        </p:txBody>
      </p:sp>
      <p:sp>
        <p:nvSpPr>
          <p:cNvPr id="34" name="Text 32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554480"/>
          </a:xfrm>
          <a:prstGeom prst="rect">
            <a:avLst/>
          </a:prstGeom>
          <a:solidFill>
            <a:srgbClr val="1B13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C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EXPLORATORY DATA ANALYSIS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Letting the data speak before modeling it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5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 BY REGION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148840"/>
          <a:ext cx="5486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355080" y="1874520"/>
            <a:ext cx="384048" cy="384048"/>
          </a:xfrm>
          <a:prstGeom prst="ellipse">
            <a:avLst/>
          </a:prstGeom>
          <a:solidFill>
            <a:srgbClr val="7C5CD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35508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903720" y="18470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Right-skewed prices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216712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5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homes sell between $645K–$1.28M; a small luxury segment pulls the average above the median.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355080" y="2907792"/>
            <a:ext cx="384048" cy="384048"/>
          </a:xfrm>
          <a:prstGeom prst="ellipse">
            <a:avLst/>
          </a:prstGeom>
          <a:solidFill>
            <a:srgbClr val="7C5CD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55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903720" y="28803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dominates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6903720" y="32004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5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&amp; Eastern Metro command the highest average prices — nearly double the Western regions.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6355080" y="3941064"/>
            <a:ext cx="384048" cy="384048"/>
          </a:xfrm>
          <a:prstGeom prst="ellipse">
            <a:avLst/>
          </a:prstGeom>
          <a:solidFill>
            <a:srgbClr val="7C5CD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35508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903720" y="391363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Distance matters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6903720" y="423367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5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falls steadily as distance from the CBD increases — a clear, consistent inverse relationship.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6355080" y="4974336"/>
            <a:ext cx="384048" cy="384048"/>
          </a:xfrm>
          <a:prstGeom prst="ellipse">
            <a:avLst/>
          </a:prstGeom>
          <a:solidFill>
            <a:srgbClr val="7C5CD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355080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903720" y="49469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&amp; size scale together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6903720" y="5266944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B5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Houses outprice townhouses and units; price rises with building area and room count, up to a point.</a:t>
            </a:r>
            <a:endParaRPr lang="en-US" sz="1080" dirty="0"/>
          </a:p>
        </p:txBody>
      </p:sp>
      <p:sp>
        <p:nvSpPr>
          <p:cNvPr id="23" name="Text 20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C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PREDICTIVE MODELING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models, one consistent evaluation standard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target — Price_Category (Expensive vs. Affordable, split at the median) — lets every model, including Linear Regression, be judged the same way: Accuracy and a Confusion Matrix.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94560"/>
          <a:ext cx="630936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086600" y="2194560"/>
            <a:ext cx="4434840" cy="1554480"/>
          </a:xfrm>
          <a:prstGeom prst="roundRect">
            <a:avLst>
              <a:gd name="adj" fmla="val 4706"/>
            </a:avLst>
          </a:prstGeom>
          <a:solidFill>
            <a:srgbClr val="241A3D"/>
          </a:solidFill>
          <a:ln w="15875">
            <a:solidFill>
              <a:srgbClr val="E8C46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0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C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PERFORMER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25877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— 89.9%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315200" y="299923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 captures non-linear relationships that a single linear model cannot.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39776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9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PRICE DRIVERS (Feature Importance)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7086600" y="431596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4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543800" y="431596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/ Longitude (location)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086600" y="470001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4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543800" y="470001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Type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086600" y="5084064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4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543800" y="5084064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from CBD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7086600" y="54681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4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543800" y="546811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Size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7086600" y="585216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4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7543800" y="585216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Area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554480"/>
          </a:xfrm>
          <a:prstGeom prst="rect">
            <a:avLst/>
          </a:prstGeom>
          <a:solidFill>
            <a:srgbClr val="1B13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C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DASHBOARD &amp; CONCLUSION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analysis to a decision-ready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12080" cy="4160520"/>
          </a:xfrm>
          <a:prstGeom prst="roundRect">
            <a:avLst>
              <a:gd name="adj" fmla="val 1319"/>
            </a:avLst>
          </a:prstGeom>
          <a:solidFill>
            <a:srgbClr val="1B13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391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C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MELBOURNE MARKET DASHBOARD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2404872"/>
            <a:ext cx="1133856" cy="777240"/>
          </a:xfrm>
          <a:prstGeom prst="roundRect">
            <a:avLst>
              <a:gd name="adj" fmla="val 5882"/>
            </a:avLst>
          </a:prstGeom>
          <a:solidFill>
            <a:srgbClr val="241A3D"/>
          </a:solidFill>
          <a:ln w="9525">
            <a:solidFill>
              <a:srgbClr val="7C5C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459736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13K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1133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9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093976" y="2404872"/>
            <a:ext cx="1133856" cy="777240"/>
          </a:xfrm>
          <a:prstGeom prst="roundRect">
            <a:avLst>
              <a:gd name="adj" fmla="val 5882"/>
            </a:avLst>
          </a:prstGeom>
          <a:solidFill>
            <a:srgbClr val="241A3D"/>
          </a:solidFill>
          <a:ln w="9525">
            <a:solidFill>
              <a:srgbClr val="7C5C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93976" y="2459736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$989K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093976" y="2788920"/>
            <a:ext cx="1133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9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319272" y="2404872"/>
            <a:ext cx="1133856" cy="777240"/>
          </a:xfrm>
          <a:prstGeom prst="roundRect">
            <a:avLst>
              <a:gd name="adj" fmla="val 5882"/>
            </a:avLst>
          </a:prstGeom>
          <a:solidFill>
            <a:srgbClr val="241A3D"/>
          </a:solidFill>
          <a:ln w="9525">
            <a:solidFill>
              <a:srgbClr val="7C5C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19272" y="2459736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10.3 km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319272" y="2788920"/>
            <a:ext cx="1133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9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Distance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44568" y="2404872"/>
            <a:ext cx="1133856" cy="777240"/>
          </a:xfrm>
          <a:prstGeom prst="roundRect">
            <a:avLst>
              <a:gd name="adj" fmla="val 5882"/>
            </a:avLst>
          </a:prstGeom>
          <a:solidFill>
            <a:srgbClr val="241A3D"/>
          </a:solidFill>
          <a:ln w="9525">
            <a:solidFill>
              <a:srgbClr val="7C5C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44568" y="2459736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89.9%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44568" y="2788920"/>
            <a:ext cx="1133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9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34747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9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 BY REGION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37673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Metro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920240" y="3794760"/>
            <a:ext cx="3300984" cy="182880"/>
          </a:xfrm>
          <a:prstGeom prst="rect">
            <a:avLst/>
          </a:prstGeom>
          <a:solidFill>
            <a:srgbClr val="C9B6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40782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Metro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920240" y="4105656"/>
            <a:ext cx="2849270" cy="182880"/>
          </a:xfrm>
          <a:prstGeom prst="rect">
            <a:avLst/>
          </a:prstGeom>
          <a:solidFill>
            <a:srgbClr val="C9B6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4389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Metro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920240" y="4416552"/>
            <a:ext cx="2362810" cy="182880"/>
          </a:xfrm>
          <a:prstGeom prst="rect">
            <a:avLst/>
          </a:prstGeom>
          <a:solidFill>
            <a:srgbClr val="C9B6F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47000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 Metro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920240" y="4727448"/>
            <a:ext cx="2189074" cy="182880"/>
          </a:xfrm>
          <a:prstGeom prst="rect">
            <a:avLst/>
          </a:prstGeom>
          <a:solidFill>
            <a:srgbClr val="C9B6F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68680" y="51480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9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MARKET OPPORTUNITY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645920" y="5687568"/>
            <a:ext cx="128016" cy="128016"/>
          </a:xfrm>
          <a:prstGeom prst="ellipse">
            <a:avLst/>
          </a:prstGeom>
          <a:solidFill>
            <a:srgbClr val="7C5CD9">
              <a:alpha val="8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920240" y="5779008"/>
            <a:ext cx="128016" cy="128016"/>
          </a:xfrm>
          <a:prstGeom prst="ellipse">
            <a:avLst/>
          </a:prstGeom>
          <a:solidFill>
            <a:srgbClr val="7C5CD9">
              <a:alpha val="8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194560" y="5650992"/>
            <a:ext cx="128016" cy="128016"/>
          </a:xfrm>
          <a:prstGeom prst="ellipse">
            <a:avLst/>
          </a:prstGeom>
          <a:solidFill>
            <a:srgbClr val="7C5CD9">
              <a:alpha val="8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468880" y="5806440"/>
            <a:ext cx="128016" cy="128016"/>
          </a:xfrm>
          <a:prstGeom prst="ellipse">
            <a:avLst/>
          </a:prstGeom>
          <a:solidFill>
            <a:srgbClr val="7C5CD9">
              <a:alpha val="8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743200" y="5715000"/>
            <a:ext cx="128016" cy="128016"/>
          </a:xfrm>
          <a:prstGeom prst="ellipse">
            <a:avLst/>
          </a:prstGeom>
          <a:solidFill>
            <a:srgbClr val="7C5CD9">
              <a:alpha val="8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057400" y="5870448"/>
            <a:ext cx="128016" cy="128016"/>
          </a:xfrm>
          <a:prstGeom prst="ellipse">
            <a:avLst/>
          </a:prstGeom>
          <a:solidFill>
            <a:srgbClr val="7C5CD9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331720" y="5852160"/>
            <a:ext cx="128016" cy="128016"/>
          </a:xfrm>
          <a:prstGeom prst="ellipse">
            <a:avLst/>
          </a:prstGeom>
          <a:solidFill>
            <a:srgbClr val="7C5CD9">
              <a:alpha val="8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926080" y="5687568"/>
            <a:ext cx="128016" cy="128016"/>
          </a:xfrm>
          <a:prstGeom prst="ellipse">
            <a:avLst/>
          </a:prstGeom>
          <a:solidFill>
            <a:srgbClr val="7C5CD9">
              <a:alpha val="8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783080" y="5833872"/>
            <a:ext cx="128016" cy="128016"/>
          </a:xfrm>
          <a:prstGeom prst="ellipse">
            <a:avLst/>
          </a:prstGeom>
          <a:solidFill>
            <a:srgbClr val="7C5CD9">
              <a:alpha val="85000"/>
            </a:srgbClr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17220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5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72200" y="219456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DE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330">
                <a:alpha val="10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492240" y="2304288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reliably classifies properties as “Expensive” or “Affordable” with 89.9% accuracy, ready to screen new listings instantly.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72200" y="3310128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DE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330">
                <a:alpha val="10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6492240" y="3419856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— not size — is the strongest price driver, confirming that “location, location, location” holds true in Melbourne’s data.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72200" y="4425696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DE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330">
                <a:alpha val="10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6492240" y="4535424"/>
            <a:ext cx="4892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dashboard's filters and drill-downs let a buyer, agent, or analyst move from a city-wide view to a single suburb in seconds.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72200" y="5614416"/>
            <a:ext cx="5349240" cy="777240"/>
          </a:xfrm>
          <a:prstGeom prst="roundRect">
            <a:avLst>
              <a:gd name="adj" fmla="val 7059"/>
            </a:avLst>
          </a:prstGeom>
          <a:solidFill>
            <a:srgbClr val="1B1330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400800" y="5705856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8C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6400800" y="592531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location and proximity-to-CBD data when pricing or evaluating a property — it outweighs every other factor in the model.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2026-08-29T19:24:18Z</dcterms:created>
  <dcterms:modified xsi:type="dcterms:W3CDTF">2026-08-29T19:24:18Z</dcterms:modified>
</cp:coreProperties>
</file>